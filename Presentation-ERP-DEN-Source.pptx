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d'ensemble de l'ERP : ce qu'il fait, pour qui, et où nous en sommes. Durée conseillée : 30 à 40 minutes avec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: 13 modules, 7 rôles, alertes 30 jours avant expiration, plus de 1 500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modules communiquent entre eux : une mission livrée peut être facturée, un plein met à jour le compteur du camion, une panne signalée prévient le Parc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Fiche d'une mission : la frise montre l'avancement. Les codes ne s'affichent que tant qu'ils servent, et jamais au chauffeur. Les codes montrés ici sont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installable sur l'écran d'accueil. Sans réseau, une page hors connexion s'affiche : le mode hors ligne n'est pas inclus, sur choix. À essayer sur de vrais téléphones avant la recette.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liste des camions montre l'état et les documents à renouveler. Un camion réservé ou en route ne peut pas être immobilisé : on ouvre alors un ordre de réparation.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Seuils réglables. La consommation hors 20 à 45 L/100 km est signalée comme anomalie.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stock et les clients n'ont pas encore de devis ni de contrats à renouveler : aucune donnée ne les 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droit de valider vient de la hiérarchie, pas du rôle. Le directeur, sans supérieur, valide lui-même son premier niveau. Les congés du chauffeur ne sont pas encore accessibles depuis son espace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cycle : Brouillon, À valider, Émise, Partiellement payée, Payée. Seule la Direction valide, l'Administrateur ne le peut pas. Points à confirmer avec le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charges (économiques) et la trésorerie (réelle) ne sont volontairement pas les mêmes chiffres. Pas de rapprochement bancaire ni d'écritures comptables à ce stade.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: le tableau de bord de la Direction. Chaque rôle ne voit que les blocs auxquels il a droit. SMS et notifications push ne sont pas inclus pour l'instant.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sont contrôlés côté serveur : ce qu'un rôle ne voit pas à l'écran, il ne l'obtient pas non plus par l'API.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Administrateur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Direction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Ressources humaines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Chargé de clientèle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 auto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Finances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Chauffeur : voir ce que l'utilisateur voit dans son menu et son tableau de bord (capture principale), puis un exemple d'écran de travail (petite capture). Captures prises avec des données de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double authentification pour l'Administrateur et la Direction est prévue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: du ciment entre Abidjan et Bouaké. À rejouer en démonstration avec les comptes d'essai.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honnêtement ce qui reste. Point à trancher : les écritures comptables, citées comme critère de recette dans le cahier des charges.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sur un calendrier : date de démonstration, date de recette, date de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0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737360" cy="1307592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" name="Image 0" descr="G:/afaq projet/Erp2/static/img/logo-embl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1554480" cy="11658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SOURCE GROUP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ERP de transport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de logistique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92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chauffeurs, carburant, stock, clients, personnel, facturation et trésorerie : une seule application, en français et en francs CFA.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B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des fonctionnalités · Septembre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 votre métier dans une seule application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connectés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mission à la trésorerie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92424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ne voit que son métier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6208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4808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j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6464808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d'avance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documents et permis à renouveler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9992" y="169164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08592" y="18288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1 570</a:t>
            </a:r>
            <a:endParaRPr lang="en-US" sz="5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8592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fiabiliser chaque règle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5196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mission suivie de bout en bout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de la demande du client à la livraison confirmée par un code, puis à la facture.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camion dont l'état est toujours juste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calculé automatiquement, jamais saisi à la main.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alertes avant les problèmes</a:t>
            </a:r>
            <a:pPr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documents, permis, pièces sous le seuil, consommation anormale, factures échues.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domaines, une même source de vérité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97053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 : qui transporte quoi, où en est la livraison 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92424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21024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56" y="19705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21024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21024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Garage, stock de pièces, carburant : mes camions sont-ils en état de rouler ?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236208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64808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197053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64808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464808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et historique : que leur ai-je transporté, ont-ils des réclamations ?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9079992" y="16002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08592" y="182880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324" y="1970532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08592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308592" y="28620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congés : qui est absent, qui doit valider quoi ?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48640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77240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393692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77240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77240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Factures, règlements, dépenses, trésorerie : suis-je payé, quelle marge ?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392424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621024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2756" y="4393692"/>
            <a:ext cx="283464" cy="28346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621024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3621024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et notifications : que traiter aujourd'hui ?</a:t>
            </a:r>
            <a:endParaRPr lang="en-US" sz="1250" dirty="0"/>
          </a:p>
        </p:txBody>
      </p:sp>
      <p:sp>
        <p:nvSpPr>
          <p:cNvPr id="36" name="Shape 28"/>
          <p:cNvSpPr/>
          <p:nvPr/>
        </p:nvSpPr>
        <p:spPr>
          <a:xfrm>
            <a:off x="6236208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464808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6540" y="4393692"/>
            <a:ext cx="283464" cy="2834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464808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endParaRPr lang="en-US" sz="1700" dirty="0"/>
          </a:p>
        </p:txBody>
      </p:sp>
      <p:sp>
        <p:nvSpPr>
          <p:cNvPr id="40" name="Text 31"/>
          <p:cNvSpPr txBox="1"/>
          <p:nvPr/>
        </p:nvSpPr>
        <p:spPr>
          <a:xfrm>
            <a:off x="6464808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chauffeur sur téléphone et codes QR de confirmation.</a:t>
            </a:r>
            <a:endParaRPr lang="en-US" sz="1250" dirty="0"/>
          </a:p>
        </p:txBody>
      </p:sp>
      <p:sp>
        <p:nvSpPr>
          <p:cNvPr id="41" name="Shape 32"/>
          <p:cNvSpPr/>
          <p:nvPr/>
        </p:nvSpPr>
        <p:spPr>
          <a:xfrm>
            <a:off x="9079992" y="402336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308592" y="4251960"/>
            <a:ext cx="566928" cy="56692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0324" y="4393692"/>
            <a:ext cx="283464" cy="28346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308592" y="4937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700" dirty="0"/>
          </a:p>
        </p:txBody>
      </p:sp>
      <p:sp>
        <p:nvSpPr>
          <p:cNvPr id="45" name="Text 35"/>
          <p:cNvSpPr txBox="1"/>
          <p:nvPr/>
        </p:nvSpPr>
        <p:spPr>
          <a:xfrm>
            <a:off x="9308592" y="528523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droits, journal d'audit inaltérable, API sécurisée.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: suivies de la demande à la clôture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automatique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MIS-année-numéro, client, lieux, marchandise, poids, prix.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étapes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Brouillon, Planifiée, Affectée, Départ, Colis récupéré, Livrée, Clôturée.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Affectation contrôlée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camion et chauffeur libres, capacité suffisante pour le poids.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codes de confirmation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QR : l'expéditeur confirme la récupération, le destinataire la livraison.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 du camion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 à jour au kilométrage d'arrivée.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439554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mission_fich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42858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chauffeur travaille depuis son téléphone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206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mission du jour, camion, km du mois, consommation.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8 points avant le départ : un point KO prévient le Parc auto sans bloquer.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QR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scannés pour confirmer récupération et livraison.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Plein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carburant et incident saisis en quelques touches.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ni prix ni codes visibles, uniquement ses propres missions, session de 15 minutes.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129784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mobile_accue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554480"/>
            <a:ext cx="2007021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65989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1" descr="C:/Users/saydo/AppData/Local/Temp/claude/G--afaq-projet-Erp2/f1c99053-fce1-4b46-ba1d-7e419491b554/scratchpad/captures/opt/mobile_miss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285" y="1554480"/>
            <a:ext cx="2007021" cy="43434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802195" y="1472184"/>
            <a:ext cx="2171613" cy="4507992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2" name="Image 2" descr="C:/Users/saydo/AppData/Local/Temp/claude/G--afaq-projet-Erp2/f1c99053-fce1-4b46-ba1d-7e419491b554/scratchpad/captures/opt/mobile_checkli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4491" y="1554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Flotte et garage : des camions toujours en règle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calculé, jamais saisi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disponible, en mission, en maintenance, immobilisé.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documents réglementaires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camion, alerte 30 jours avant l'expiration.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réparation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OR-année-numéro : curatif, préventif, diagnostic, pneumatiques.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main-d'œuvre + pièces sorties du stock.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des chauffeurs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Parc auto décide de la suite, rien n'est automatique.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flot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Carburant : les anomalies se voient tout de suite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E0A800"/>
          </a:solidFill>
          <a:ln w="6350">
            <a:solidFill>
              <a:srgbClr val="E0A8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+20 %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84832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C62828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84832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+40 %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21024" y="1600200"/>
            <a:ext cx="1426464" cy="960120"/>
          </a:xfrm>
          <a:prstGeom prst="roundRect">
            <a:avLst>
              <a:gd name="adj" fmla="val 7619"/>
            </a:avLst>
          </a:prstGeom>
          <a:solidFill>
            <a:srgbClr val="5A0211"/>
          </a:solidFill>
          <a:ln w="6350">
            <a:solidFill>
              <a:srgbClr val="5A02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00200"/>
            <a:ext cx="1426464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suspecte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&gt; ±60 %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8036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aux 100 km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comparée à la moyenne des 3 derniers pleins du camion.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suspecte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rien n'est enregistré tant que la personne n'a pas corrigé ou confirmé.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unique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impossible de saisir deux fois le même.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camion et par chauffeur ; alertes vers le Parc auto et la Direction.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0" descr="C:/Users/saydo/AppData/Local/Temp/claude/G--afaq-projet-Erp2/f1c99053-fce1-4b46-ba1d-7e419491b554/scratchpad/captures/opt/carb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 AUTO ET COMMERCIAL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de pièces et portefeuille clients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68112" cy="4480560"/>
          </a:xfrm>
          <a:prstGeom prst="roundRect">
            <a:avLst>
              <a:gd name="adj" fmla="val 1633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828800"/>
            <a:ext cx="4096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de pièces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4919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catégories, emplacement, seuil minimal.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revient au prix unitaire moyen pondéré, recalculé à chaque achat.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Sorties liées à un ordre de réparation, valorisées automatiquement.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des mouvements définitif : une erreur se corrige par un ajustement motivé.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au seuil minimal, envoyée au Parc auto.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68112" cy="4480560"/>
          </a:xfrm>
          <a:prstGeom prst="roundRect">
            <a:avLst>
              <a:gd name="adj" fmla="val 1633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28800"/>
            <a:ext cx="640080" cy="640080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28800"/>
            <a:ext cx="4096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743200"/>
            <a:ext cx="4919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client, chargé de clientèle attitré, délai de paiement (30 jours par défaut).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 18 % par défaut ; 0 % avec motif obligatoire (export, ONG, convention).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: appels, mails, réunions, demandes de devis, réclamations.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du client visibles sur sa fiche.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sans souci des accents ni des majuscules.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 : un circuit de validation en trois étapes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l'employé, jours ouvrables calculés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084832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84832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N1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supérieur hiérarchique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21024" y="160020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00200"/>
            <a:ext cx="1426464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N2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08960"/>
            <a:ext cx="4526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jours ouvrables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an, plus les jours exceptionnels accordés par la RH.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 supérieur si un chauffeur a une mission prévue sur la période.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la validation traîne (48 h, puis 24 h).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Annulation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d'un congé approuvé : les jours sont restitués.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du personnel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recrutement ; la fiche chauffeur se crée seule.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0" descr="C:/Users/saydo/AppData/Local/Temp/claude/G--afaq-projet-Erp2/f1c99053-fce1-4b46-ba1d-7e419491b554/scratchpad/captures/opt/con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Facturation : la Finance prépare, la Direction valide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une mission livrée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prix, TVA et délai de paiement du client repris.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FACT-année-numéro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attribué à la validation : aucun trou dans la numérotation.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gelés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dès l'émission ; échéance calculée.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Règlements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virement, chèque, espèces, Wave, Orange Money, MTN ; jamais plus que le reste dû.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échue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alerte automatique, une seule fois.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43016" y="1408176"/>
            <a:ext cx="5824728" cy="407808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fa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63040"/>
            <a:ext cx="5715000" cy="396835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Brouillon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07208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07208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valider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65776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65776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24344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24344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Partiellement payée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582912" y="5760720"/>
            <a:ext cx="2057400" cy="438912"/>
          </a:xfrm>
          <a:prstGeom prst="roundRect">
            <a:avLst>
              <a:gd name="adj" fmla="val 50000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82912" y="5760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Payée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Trésorerie et indicateurs du mois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0" descr="C:/Users/saydo/AppData/Local/Temp/claude/G--afaq-projet-Erp2/f1c99053-fce1-4b46-ba1d-7e419491b554/scratchpad/captures/opt/tresorer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040"/>
            <a:ext cx="6172200" cy="3857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086600" y="14630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1591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 facturé HT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251192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418320" y="14630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582912" y="1591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Encaissé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582912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règlements du mois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86600" y="26517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51192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dépenses, carburant, réparations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418320" y="26517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82912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 nette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582912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HT moins charges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086600" y="38404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39684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Créances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251192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factures échues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418320" y="38404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2912" y="39684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Trésorerie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582912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réel par compte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5120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comptes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Banque, Caisse, Mobile Money, déduits du mode de paiement.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à ressaisir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carburant et réparations sont repris tels quels dans les charges.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demande votre attention, dès l'accueil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d'alertes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documents, permis, pièces, surconsommation, incidents, congés en retard, factures échues.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Blocs par rôle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exploitation, RH, finances du mois, clientèle.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Cloche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notifications non lues, et courriel en option.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doublon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un rappel du jour n'est jamais envoyé deux fois.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385816" y="1408176"/>
            <a:ext cx="6281928" cy="39673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C:/Users/saydo/AppData/Local/Temp/claude/G--afaq-projet-Erp2/f1c99053-fce1-4b46-ba1d-7e419491b554/scratchpad/captures/opt/tableau_b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6304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peut faire quoi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43000"/>
                <a:gridCol w="1234440"/>
                <a:gridCol w="1097280"/>
                <a:gridCol w="1554480"/>
                <a:gridCol w="1234440"/>
                <a:gridCol w="123444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Chargé clientèle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Chauffeur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31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Crée, planifie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 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Chauffeurs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Carburant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 pleins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Tous, N2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siens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Prépare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Prépare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Règlements, dépenses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03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Gère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d'audit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DBD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8990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= consulter et modifier · Lit = lecture seule · Lit* = via l'espace d'administration, accès à activer sur le compte · la validation vient aussi de la hiérarchie (congés) ou de la Direction (factures).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supervise tout, mais ne valide pas les factures.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missions, camions, chauffeurs, garage, stock, carburant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clients, personnel et recrutement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factures, règlements, dépenses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journal d'audit et l'API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 (Direction seule)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 congé (supérieur et RH)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l'espace chauffeur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admi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Flotte · Personnel · Congés · Chauffeurs · Garage · Incidents · Carburant · Stock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pilote, affecte, clôture et valide.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suivre et clôturer les missions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et émettre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factures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congés de son équipe (N1)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tout le parc, le stock, les clients, le personnel, la trésorerie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 OR, saisir un plein, bouger le stock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une facture ou un règlement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Décider les congés au second niveau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directio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direction_factur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Flotte · Personnel · Congés · Chauffeurs · Garage · Incidents · Carburant · Stock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humaines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gèrent les équipes et décident au second niveau.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modifier les fiches du personnel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chauffeurs : permis, visite médicale, suspension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congés au second niveau (N2)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jours exceptionnels, avec motif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à la flotte ou aux finances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sa propre demande de congé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rh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rh_con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Personnel · Congés · Chauffeurs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Chargé de clientèle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tient les clients et lance les missions.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planifier une mission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codes de confirmation et leurs QR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clients : TVA, délai, historique, réclamations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prévenu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départ des missions de ses clients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un camion ou un chauffeur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Clôturer une mission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factures, à la flotte ou au personnel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charge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charge_mission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Clients · Congés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 auto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garde les camions en état et traite les incidents.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camions et leurs documents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et clôturer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ordres de réparation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incidents et les check-lists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stock de pièces et saisir les pleins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clients ou personnel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à la facturation et à la trésorerie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fiches des chauffeurs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parc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parc_gara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Flotte · Congés · Garage · Incidents · Carburant · Stock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préparent les factures et suivent l'argent.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une facture et la soumettre à la Direction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règlements, acomptes et solde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dépenses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trésorerie et les indicateurs du mois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une facture (Direction seule)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missions, clients, flotte ou stock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codes secrets des missions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4456" y="1408176"/>
            <a:ext cx="5779008" cy="3653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fin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69280" cy="35433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202168" y="3504438"/>
            <a:ext cx="3529584" cy="2260854"/>
          </a:xfrm>
          <a:prstGeom prst="rect">
            <a:avLst/>
          </a:prstGeom>
          <a:solidFill>
            <a:srgbClr val="FFFFFF"/>
          </a:solidFill>
          <a:ln w="19050">
            <a:solidFill>
              <a:srgbClr val="8B031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fin_factur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577590"/>
            <a:ext cx="3383280" cy="211455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5989320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Congés · Facturation · Dépenses · Trésorerie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PAR RÔLE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Chauffeur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travaille depuis son téléphone, pas depuis le bureau.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2688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peut faire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 missions du jour et de la semaine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check-list et démarrer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récupération et livraison par QR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✓"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plein et signaler un incident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32688" y="43982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ne peut pas faire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280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 prix ou les codes secrets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missions d'un autre chauffeur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 écran de bureau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684264" y="1380744"/>
            <a:ext cx="2192740" cy="4553712"/>
          </a:xfrm>
          <a:prstGeom prst="roundRect">
            <a:avLst>
              <a:gd name="adj" fmla="val 8340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Users/saydo/AppData/Local/Temp/claude/G--afaq-projet-Erp2/f1c99053-fce1-4b46-ba1d-7e419491b554/scratchpad/captures/opt/r_chauf_accue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463040"/>
            <a:ext cx="2028148" cy="4389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52492" y="1380744"/>
            <a:ext cx="2192740" cy="4553712"/>
          </a:xfrm>
          <a:prstGeom prst="roundRect">
            <a:avLst>
              <a:gd name="adj" fmla="val 8340"/>
            </a:avLst>
          </a:prstGeom>
          <a:solidFill>
            <a:srgbClr val="1F1F1F"/>
          </a:solidFill>
          <a:ln w="6350">
            <a:solidFill>
              <a:srgbClr val="1F1F1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/Users/saydo/AppData/Local/Temp/claude/G--afaq-projet-Erp2/f1c99053-fce1-4b46-ba1d-7e419491b554/scratchpad/captures/opt/r_chauf_missio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788" y="1463040"/>
            <a:ext cx="2028148" cy="4389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60533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Accueil · Missions · Plein · Panne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et traçabilité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87452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Journal d'audit inaltérable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connexion, création, modification, suppression et validation est inscrite, avec l'auteur et les valeurs avant et après. Conservation d'au moins 5 ans.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7452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20391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7452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Droits par rôle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69748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rôles, contrôlés côté serveur. Un bouton non autorisé n'est pas affiché et l'accès direct est refusé.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46227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91640" y="429768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Sessions courtes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12064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 d'inactivité au bureau, 15 minutes pour le chauffeur. Codes secrets jamais exposés à l'API ni au journal.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172200" y="402336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46520" y="4297680"/>
            <a:ext cx="658368" cy="658368"/>
          </a:xfrm>
          <a:prstGeom prst="ellipse">
            <a:avLst/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46227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0" y="4297680"/>
            <a:ext cx="4096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en lecture seule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6446520" y="5120640"/>
            <a:ext cx="4919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camions, chauffeurs, clients, factures. Connexion limitée à 10 essais par minute, jetons de 15 minutes.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EXEMPLE COMPLET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mission, de la demande à l'encaissement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Chargé de clientèle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lieux, marchandise, prix. Codes générés.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8646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11526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152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611526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Affectation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611526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1526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Camion et chauffeur, capacité vérifiée.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08653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91533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91533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491533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Départ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91533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91533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Check-list, puis démarrage. Le client est prévenu.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88659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1539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7153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371539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Récupération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371539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371539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du QR de l'expéditeur. En route, plein saisi.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68666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51546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5154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51546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Livraison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251546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251546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du destinataire et km d'arrivée. Camion libéré.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948672" y="2103120"/>
            <a:ext cx="1691640" cy="2743200"/>
          </a:xfrm>
          <a:prstGeom prst="roundRect">
            <a:avLst>
              <a:gd name="adj" fmla="val 4324"/>
            </a:avLst>
          </a:prstGeom>
          <a:solidFill>
            <a:srgbClr val="8B0319"/>
          </a:solidFill>
          <a:ln w="6350">
            <a:solidFill>
              <a:srgbClr val="8B031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31552" y="1874520"/>
            <a:ext cx="566928" cy="566928"/>
          </a:xfrm>
          <a:prstGeom prst="ellipse">
            <a:avLst/>
          </a:prstGeom>
          <a:solidFill>
            <a:srgbClr val="F28A1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13155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131552" y="2606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Facturation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10131552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Finances, Direction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31552" y="3520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validée, règlements, trésorerie à jour.</a:t>
            </a:r>
            <a:endParaRPr lang="en-US" sz="14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57800"/>
            <a:ext cx="274320" cy="274320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960120" y="52395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étape, l'action est inscrite dans le journal d'audit.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nous en sommes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DEN Source Group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Réalisé et testé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flotte, chauffeurs, garage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carburant, clients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congés en 3 niveaux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Facturation, règlements, trésorerie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et notifications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et espace chauffeur, codes QR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311396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716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88636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03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faits avec vous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mode hors ligne du chauffeur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d'écritures comptables (le cahier des charges les cite en recette : à trancher)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rapprochement bancaire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 lecture seule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8074152" y="160020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5EEF0"/>
          </a:solidFill>
          <a:ln w="6350">
            <a:solidFill>
              <a:srgbClr val="F5EEF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51392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 la mise en service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48472" y="25146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authentification Admin et Direction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tâches planifiées, déploiement, sauvegardes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sur de vrais téléphones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 du chauffeur depuis le mobile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8B0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8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proposons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3774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commentée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par rôle, avec des comptes d'essai.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355848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355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31012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règles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TVA, délais, seuils de carburant, droits de validation.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288536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2885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242816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à prendre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écritures comptables et mode hors ligne du chauffeur.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221224"/>
            <a:ext cx="621792" cy="621792"/>
          </a:xfrm>
          <a:prstGeom prst="ellipse">
            <a:avLst/>
          </a:prstGeom>
          <a:solidFill>
            <a:srgbClr val="F28A14"/>
          </a:solidFill>
          <a:ln w="6350">
            <a:solidFill>
              <a:srgbClr val="F28A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2212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175504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terrain, puis mise en service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F3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renforcée, déploiement, sauvegardes.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ERP DEN Source Group — Présentation</dc:title>
  <dc:subject>PptxGenJS Presentation</dc:subject>
  <dc:creator>DEN Source Group</dc:creator>
  <cp:lastModifiedBy>DEN Source Group</cp:lastModifiedBy>
  <cp:revision>1</cp:revision>
  <dcterms:created xsi:type="dcterms:W3CDTF">2026-09-21T17:26:10Z</dcterms:created>
  <dcterms:modified xsi:type="dcterms:W3CDTF">2026-09-21T17:26:10Z</dcterms:modified>
</cp:coreProperties>
</file>