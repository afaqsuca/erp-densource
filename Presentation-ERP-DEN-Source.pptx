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d'ensemble de l'ERP : ce qu'il fait, pour qui, et où nous en sommes. Durée conseillée : 30 à 40 minutes avec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: 13 modules, 7 rôles, alertes 30 jours avant expiration, plus de 1 500 tests automatisés.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modules communiquent entre eux : une mission livrée peut être facturée, un plein met à jour le compteur du camion, une panne signalée prévient le Parc auto.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d'une mission : la frise montre l'avancement. Les codes ne s'affichent que tant qu'ils servent, et jamais au chauffeur. Les codes montrés ici sont des données de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installable sur l'écran d'accueil. Sans réseau, une page hors connexion s'affiche : le mode hors ligne n'est pas inclus, sur choix. À essayer sur de vrais téléphones avant la recette.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liste des camions montre l'état et les documents à renouveler. Un camion réservé ou en route ne peut pas être immobilisé : on ouvre alors un ordre de réparation.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Seuils réglables. La consommation hors 20 à 45 L/100 km est signalée comme anomalie.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stock et les clients n'ont pas encore de devis ni de contrats à renouveler : aucune donnée ne les 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droit de valider vient de la hiérarchie, pas du rôle. Le directeur, sans supérieur, valide lui-même son premier niveau. Les congés du chauffeur ne sont pas encore accessibles depuis son espace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cycle : Brouillon, À valider, Émise, Partiellement payée, Payée. Seule la Direction valide, l'Administrateur ne le peut pas. Points à confirmer avec le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charges (économiques) et la trésorerie (réelle) ne sont volontairement pas les mêmes chiffres. Pas de rapprochement bancaire ni d'écritures comptables à ce stade.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: le tableau de bord de la Direction. Chaque rôle ne voit que les blocs auxquels il a droit. SMS et notifications push ne sont pas inclus pour l'instant.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droits sont contrôlés côté serveur : ce qu'un rôle ne voit pas à l'écran, il ne l'obtient pas non plus par l'API.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double authentification pour l'Administrateur et la Direction est prévue avant la mise en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: du ciment entre Abidjan et Bouaké. À rejouer en démonstration avec les comptes d'essai.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honnêtement ce qui reste. Point à trancher : les écritures comptables, citées comme critère de recette dans le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un calendrier : date de démonstration, date de recette, date de mise en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737360" cy="1307592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" name="Image 0" descr="G:/afaq projet/Erp2/static/img/logo-embl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1554480" cy="11658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SOURCE GROUP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ERP de transport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de logistique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Missions, camions, chauffeurs, carburant, stock, clients, personnel, facturation et trésorerie : une seule application, en français et en francs CFA.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fonctionnalités · Septembre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votre métier dans une seule application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connectés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mission à la trésorerie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92424" y="16916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18288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ne voit que son métier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6208" y="16916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18288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j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d'avance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documents et permis à renouveler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79992" y="16916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08592" y="18288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1 570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9308592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fiabiliser chaque règle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mission suivie de bout en bout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de la demande du client à la livraison confirmée par un code, puis à la facture.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camion dont l'état est toujours juste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calculé automatiquement, jamais saisi à la main.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alertes avant les problèmes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documents, permis, pièces sous le seuil, consommation anormale, factures échues.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Huit domaines, une même source de vérité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97053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620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Missions, camions, chauffeurs : qui transporte quoi, où en est la livraison 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92424" y="1600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21024" y="182880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197053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21024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auto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21024" y="28620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Garage, stock de pièces, carburant : mes camions sont-ils en état de rouler 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36208" y="1600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64808" y="182880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19705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64808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64808" y="28620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et historique : que leur ai-je transporté, ont-ils des réclamations ?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079992" y="1600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08592" y="182880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197053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08592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308592" y="28620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et congés : qui est absent, qui doit valider quoi ?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0233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724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2852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Factures, règlements, dépenses, trésorerie : suis-je payé, quelle marge ?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392424" y="40233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621024" y="425196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756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621024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3621024" y="52852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et notifications : que traiter aujourd'hui ?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236208" y="40233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64808" y="425196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464808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700" dirty="0"/>
          </a:p>
        </p:txBody>
      </p:sp>
      <p:sp>
        <p:nvSpPr>
          <p:cNvPr id="40" name="Text 31"/>
          <p:cNvSpPr txBox="1"/>
          <p:nvPr/>
        </p:nvSpPr>
        <p:spPr>
          <a:xfrm>
            <a:off x="6464808" y="52852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chauffeur sur téléphone et codes QR de confirmation.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9079992" y="40233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308592" y="4251960"/>
            <a:ext cx="566928" cy="56692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324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308592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700" dirty="0"/>
          </a:p>
        </p:txBody>
      </p:sp>
      <p:sp>
        <p:nvSpPr>
          <p:cNvPr id="45" name="Text 35"/>
          <p:cNvSpPr txBox="1"/>
          <p:nvPr/>
        </p:nvSpPr>
        <p:spPr>
          <a:xfrm>
            <a:off x="9308592" y="52852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droits, journal d'audit inaltérable, API sécurisée.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 : suivies de la demande à la clôture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526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automatique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MIS-année-numéro, client, lieux, marchandise, poids, prix.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étapes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Brouillon, Planifiée, Affectée, Départ, Colis récupéré, Livrée, Clôturée.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contrôlée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camion et chauffeur libres, capacité suffisante pour le poids.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codes de confirmation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QR : l'expéditeur confirme la récupération, le destinataire la livraison.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du camion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 à jour au kilométrage d'arrivée.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385816" y="1408176"/>
            <a:ext cx="6281928" cy="439554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C:/Users/saydo/AppData/Local/Temp/claude/G--afaq-projet-Erp2/f1c99053-fce1-4b46-ba1d-7e419491b554/scratchpad/captures/opt/mission_fich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6172200" cy="42858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chauffeur travaille depuis son téléphone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mission du jour, camion, km du mois, consommation.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Check-list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8 points avant le départ : un point KO prévient le Parc auto sans bloquer.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QR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scannés pour confirmer récupération et livraison.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Plein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carburant et incident saisis en quelques touches.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ni prix ni codes visibles, uniquement ses propres missions, session de 15 minutes.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129784" y="1472184"/>
            <a:ext cx="2171613" cy="4507992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C:/Users/saydo/AppData/Local/Temp/claude/G--afaq-projet-Erp2/f1c99053-fce1-4b46-ba1d-7e419491b554/scratchpad/captures/opt/mobile_accue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554480"/>
            <a:ext cx="2007021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65989" y="1472184"/>
            <a:ext cx="2171613" cy="4507992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C:/Users/saydo/AppData/Local/Temp/claude/G--afaq-projet-Erp2/f1c99053-fce1-4b46-ba1d-7e419491b554/scratchpad/captures/opt/mobile_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285" y="1554480"/>
            <a:ext cx="2007021" cy="4343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802195" y="1472184"/>
            <a:ext cx="2171613" cy="4507992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2" name="Image 2" descr="C:/Users/saydo/AppData/Local/Temp/claude/G--afaq-projet-Erp2/f1c99053-fce1-4b46-ba1d-7e419491b554/scratchpad/captures/opt/mobile_checklis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491" y="1554480"/>
            <a:ext cx="200702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AUTO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Flotte et garage : des camions toujours en règle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526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calculé, jamais saisi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disponible, en mission, en maintenance, immobilisé.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documents réglementaires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camion, alerte 30 jours avant l'expiration.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réparation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OR-année-numéro : curatif, préventif, diagnostic, pneumatiques.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main-d'œuvre + pièces sorties du stock.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des chauffeurs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Parc auto décide de la suite, rien n'est automatique.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385816" y="1408176"/>
            <a:ext cx="6281928" cy="39673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C:/Users/saydo/AppData/Local/Temp/claude/G--afaq-projet-Erp2/f1c99053-fce1-4b46-ba1d-7e419491b554/scratchpad/captures/opt/flot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61722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AUTO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Carburant : les anomalies se voient tout de suite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E0A800"/>
          </a:solidFill>
          <a:ln w="6350">
            <a:solidFill>
              <a:srgbClr val="E0A8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426464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&gt; +20 %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84832" y="160020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84832" y="1600200"/>
            <a:ext cx="1426464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&gt; +40 %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21024" y="160020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5A0211"/>
          </a:solidFill>
          <a:ln w="6350">
            <a:solidFill>
              <a:srgbClr val="5A02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1600200"/>
            <a:ext cx="1426464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suspecte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&gt; ±60 %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80360"/>
            <a:ext cx="4526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aux 100 km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comparée à la moyenne des 3 derniers pleins du camion.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suspecte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rien n'est enregistré tant que la personne n'a pas corrigé ou confirmé.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unique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impossible de saisir deux fois le même.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camion et par chauffeur ; alertes vers le Parc auto et la Direction.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385816" y="1408176"/>
            <a:ext cx="6281928" cy="39673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Image 0" descr="C:/Users/saydo/AppData/Local/Temp/claude/G--afaq-projet-Erp2/f1c99053-fce1-4b46-ba1d-7e419491b554/scratchpad/captures/opt/carbur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61722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AUTO ET COMMERCIAL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de pièces et portefeuille clients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68112" cy="4480560"/>
          </a:xfrm>
          <a:prstGeom prst="roundRect">
            <a:avLst>
              <a:gd name="adj" fmla="val 1633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828800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de pièces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43200"/>
            <a:ext cx="49194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catégories, emplacement, seuil minimal.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revient au prix unitaire moyen pondéré, recalculé à chaque achat.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liées à un ordre de réparation, valorisées automatiquement.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mouvements définitif : une erreur se corrige par un ajustement motivé.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au seuil minimal, envoyée au Parc auto.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68112" cy="4480560"/>
          </a:xfrm>
          <a:prstGeom prst="roundRect">
            <a:avLst>
              <a:gd name="adj" fmla="val 1633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1828800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743200"/>
            <a:ext cx="49194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client, chargé de clientèle attitré, délai de paiement (30 jours par défaut).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18 % par défaut ; 0 % avec motif obligatoire (export, ONG, convention).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: appels, mails, réunions, demandes de devis, réclamations.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du client visibles sur sa fiche.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sans souci des accents ni des majuscules.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Congés : un circuit de validation en trois étapes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42646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l'employé, jours ouvrables calculés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84832" y="160020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84832" y="1600200"/>
            <a:ext cx="142646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N1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supérieur hiérarchique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21024" y="1600200"/>
            <a:ext cx="1426464" cy="1188720"/>
          </a:xfrm>
          <a:prstGeom prst="roundRect">
            <a:avLst>
              <a:gd name="adj" fmla="val 6154"/>
            </a:avLst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1600200"/>
            <a:ext cx="142646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N2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0896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jours ouvrables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an, plus les jours exceptionnels accordés par la RH.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supérieur si un chauffeur a une mission prévue sur la période.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la validation traîne (48 h, puis 24 h).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d'un congé approuvé : les jours sont restitués.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du personnel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recrutement ; la fiche chauffeur se crée seule.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85816" y="1408176"/>
            <a:ext cx="6281928" cy="39673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Image 0" descr="C:/Users/saydo/AppData/Local/Temp/claude/G--afaq-projet-Erp2/f1c99053-fce1-4b46-ba1d-7e419491b554/scratchpad/captures/opt/cong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61722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Facturation : la Finance prépare, la Direction valide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une mission livrée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prix, TVA et délai de paiement du client repris.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FACT-année-numéro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attribué à la validation : aucun trou dans la numérotation.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gelés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dès l'émission ; échéance calculée.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virement, chèque, espèces, Wave, Orange Money, MTN ; jamais plus que le reste dû.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échue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alerte automatique, une seule fois.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43016" y="1408176"/>
            <a:ext cx="5824728" cy="407808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C:/Users/saydo/AppData/Local/Temp/claude/G--afaq-projet-Erp2/f1c99053-fce1-4b46-ba1d-7e419491b554/scratchpad/captures/opt/fa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63040"/>
            <a:ext cx="5715000" cy="396835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760720"/>
            <a:ext cx="2057400" cy="438912"/>
          </a:xfrm>
          <a:prstGeom prst="roundRect">
            <a:avLst>
              <a:gd name="adj" fmla="val 50000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760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07208" y="5760720"/>
            <a:ext cx="2057400" cy="438912"/>
          </a:xfrm>
          <a:prstGeom prst="roundRect">
            <a:avLst>
              <a:gd name="adj" fmla="val 50000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07208" y="5760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valider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65776" y="5760720"/>
            <a:ext cx="2057400" cy="438912"/>
          </a:xfrm>
          <a:prstGeom prst="roundRect">
            <a:avLst>
              <a:gd name="adj" fmla="val 50000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65776" y="5760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24344" y="5760720"/>
            <a:ext cx="2057400" cy="438912"/>
          </a:xfrm>
          <a:prstGeom prst="roundRect">
            <a:avLst>
              <a:gd name="adj" fmla="val 50000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24344" y="5760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Partiellement payée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582912" y="5760720"/>
            <a:ext cx="2057400" cy="438912"/>
          </a:xfrm>
          <a:prstGeom prst="roundRect">
            <a:avLst>
              <a:gd name="adj" fmla="val 50000"/>
            </a:avLst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82912" y="5760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Payée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Trésorerie et indicateurs du mois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08176"/>
            <a:ext cx="6281928" cy="39673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C:/Users/saydo/AppData/Local/Temp/claude/G--afaq-projet-Erp2/f1c99053-fce1-4b46-ba1d-7e419491b554/scratchpad/captures/opt/tresorer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63040"/>
            <a:ext cx="6172200" cy="3857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86600" y="14630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51192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facturé HT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51192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4630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82912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Encaissé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582912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règlements du mois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26517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51192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51192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dépenses, carburant, réparations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418320" y="26517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82912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 nette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582912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HT moins charges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6600" y="38404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51192" y="3968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Créances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51192" y="4343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factures échues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418320" y="38404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82912" y="3968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Trésorerie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582912" y="4343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réel par compte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5120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comptes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Banque, Caisse, Mobile Money, déduits du mode de paiement.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ressaisir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carburant et réparations sont repris tels quels dans les charges.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demande votre attention, dès l'accueil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526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d'alertes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documents, permis, pièces, surconsommation, incidents, congés en retard, factures échues.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par rôle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exploitation, RH, finances du mois, clientèle.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Cloche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notifications non lues, et courriel en option.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doublon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 rappel du jour n'est jamais envoyé deux fois.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385816" y="1408176"/>
            <a:ext cx="6281928" cy="39673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C:/Users/saydo/AppData/Local/Temp/claude/G--afaq-projet-Erp2/f1c99053-fce1-4b46-ba1d-7e419491b554/scratchpad/captures/opt/tableau_bo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61722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peut faire quoi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43000"/>
                <a:gridCol w="1234440"/>
                <a:gridCol w="1097280"/>
                <a:gridCol w="1554480"/>
                <a:gridCol w="1234440"/>
                <a:gridCol w="1234440"/>
                <a:gridCol w="13990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Chargé clientèle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Chauffeur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31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Crée, planifie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Chauffeurs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Carburant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pleins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Tous, N2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siens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siens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siens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Prépare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Prépare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Règlements, dépenses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03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d'audit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DB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= consulter et modifier · Lit = lecture seule · un droit de validation vient aussi de la hiérarchie (congés) ou de la Direction (factures).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et traçabilité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874520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d'audit inaltérable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97480"/>
            <a:ext cx="4919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connexion, création, modification, suppression et validation est inscrite, avec l'auteur et les valeurs avant et après. Conservation d'au moins 5 ans.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74520"/>
            <a:ext cx="658368" cy="65836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0391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1874520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Droits par rôle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697480"/>
            <a:ext cx="4919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rôles, contrôlés côté serveur. Un bouton non autorisé n'est pas affiché et l'accès direct est refusé.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297680"/>
            <a:ext cx="658368" cy="65836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622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91640" y="4297680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courtes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120640"/>
            <a:ext cx="4919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d'inactivité au bureau, 15 minutes pour le chauffeur. Codes secrets jamais exposés à l'API ni au journal.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172200" y="4023360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4297680"/>
            <a:ext cx="658368" cy="658368"/>
          </a:xfrm>
          <a:prstGeom prst="ellipse">
            <a:avLst/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6227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0" y="4297680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 lecture seule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5120640"/>
            <a:ext cx="4919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Missions, camions, chauffeurs, clients, factures. Connexion limitée à 10 essais par minute, jetons de 15 minutes.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EXEMPLE COMPLET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mission, de la demande à l'encaissement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691640" cy="2743200"/>
          </a:xfrm>
          <a:prstGeom prst="roundRect">
            <a:avLst>
              <a:gd name="adj" fmla="val 432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66928" cy="566928"/>
          </a:xfrm>
          <a:prstGeom prst="ellipse">
            <a:avLst/>
          </a:prstGeom>
          <a:solidFill>
            <a:srgbClr val="F28A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99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Chargé de clientèle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204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lieux, marchandise, prix. Codes générés.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8646" y="2103120"/>
            <a:ext cx="1691640" cy="2743200"/>
          </a:xfrm>
          <a:prstGeom prst="roundRect">
            <a:avLst>
              <a:gd name="adj" fmla="val 432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1526" y="1874520"/>
            <a:ext cx="566928" cy="566928"/>
          </a:xfrm>
          <a:prstGeom prst="ellipse">
            <a:avLst/>
          </a:prstGeom>
          <a:solidFill>
            <a:srgbClr val="F28A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1152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611526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Affectation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611526" y="2999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11526" y="35204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 et chauffeur, capacité vérifiée.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08653" y="2103120"/>
            <a:ext cx="1691640" cy="2743200"/>
          </a:xfrm>
          <a:prstGeom prst="roundRect">
            <a:avLst>
              <a:gd name="adj" fmla="val 432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1533" y="1874520"/>
            <a:ext cx="566928" cy="566928"/>
          </a:xfrm>
          <a:prstGeom prst="ellipse">
            <a:avLst/>
          </a:prstGeom>
          <a:solidFill>
            <a:srgbClr val="F28A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91533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491533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Départ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91533" y="2999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91533" y="35204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Check-list, puis démarrage. Le client est prévenu.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8659" y="2103120"/>
            <a:ext cx="1691640" cy="2743200"/>
          </a:xfrm>
          <a:prstGeom prst="roundRect">
            <a:avLst>
              <a:gd name="adj" fmla="val 432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1539" y="1874520"/>
            <a:ext cx="566928" cy="566928"/>
          </a:xfrm>
          <a:prstGeom prst="ellipse">
            <a:avLst/>
          </a:prstGeom>
          <a:solidFill>
            <a:srgbClr val="F28A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1539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371539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Récupération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371539" y="2999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71539" y="35204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du QR de l'expéditeur. En route, plein saisi.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68666" y="2103120"/>
            <a:ext cx="1691640" cy="2743200"/>
          </a:xfrm>
          <a:prstGeom prst="roundRect">
            <a:avLst>
              <a:gd name="adj" fmla="val 4324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1546" y="1874520"/>
            <a:ext cx="566928" cy="566928"/>
          </a:xfrm>
          <a:prstGeom prst="ellipse">
            <a:avLst/>
          </a:prstGeom>
          <a:solidFill>
            <a:srgbClr val="F28A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5154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251546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Livraison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251546" y="2999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251546" y="35204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du destinataire et km d'arrivée. Camion libéré.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948672" y="2103120"/>
            <a:ext cx="1691640" cy="2743200"/>
          </a:xfrm>
          <a:prstGeom prst="roundRect">
            <a:avLst>
              <a:gd name="adj" fmla="val 4324"/>
            </a:avLst>
          </a:prstGeom>
          <a:solidFill>
            <a:srgbClr val="8B0319"/>
          </a:solidFill>
          <a:ln w="6350">
            <a:solidFill>
              <a:srgbClr val="8B031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31552" y="1874520"/>
            <a:ext cx="566928" cy="566928"/>
          </a:xfrm>
          <a:prstGeom prst="ellipse">
            <a:avLst/>
          </a:prstGeom>
          <a:solidFill>
            <a:srgbClr val="F28A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3155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Facturation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10131552" y="2999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Finances, Direction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31552" y="35204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validée, règlements, trésorerie à jour.</a:t>
            </a:r>
            <a:endParaRPr lang="en-US" sz="14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57800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960120" y="52395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étape, l'action est inscrite dans le journal d'audit.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nous en sommes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DEN Source Group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Réalisé et testé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Missions, flotte, chauffeurs, garage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carburant, clients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et congés en 3 niveaux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Facturation, règlements, trésorerie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et notifications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et espace chauffeur, codes QR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311396" y="160020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6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88636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3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faits avec vous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85716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mode hors ligne du chauffeur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d'écritures comptables (le cahier des charges les cite en recette : à trancher)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rapprochement bancaire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lecture seule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074152" y="160020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5EEF0"/>
          </a:solidFill>
          <a:ln w="6350">
            <a:solidFill>
              <a:srgbClr val="F5EE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51392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la mise en service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authentification Admin et Direction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tâches planifiées, déploiement, sauvegardes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Essais sur de vrais téléphones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 du chauffeur depuis le mobile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8B0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8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vous proposons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621792" cy="621792"/>
          </a:xfrm>
          <a:prstGeom prst="ellipse">
            <a:avLst/>
          </a:prstGeom>
          <a:solidFill>
            <a:srgbClr val="F28A14"/>
          </a:solidFill>
          <a:ln w="6350">
            <a:solidFill>
              <a:srgbClr val="F28A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377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commentée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par rôle, avec des comptes d'essai.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355848"/>
            <a:ext cx="621792" cy="621792"/>
          </a:xfrm>
          <a:prstGeom prst="ellipse">
            <a:avLst/>
          </a:prstGeom>
          <a:solidFill>
            <a:srgbClr val="F28A14"/>
          </a:solidFill>
          <a:ln w="6350">
            <a:solidFill>
              <a:srgbClr val="F28A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55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31012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règles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TVA, délais, seuils de carburant, droits de validation.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288536"/>
            <a:ext cx="621792" cy="621792"/>
          </a:xfrm>
          <a:prstGeom prst="ellipse">
            <a:avLst/>
          </a:prstGeom>
          <a:solidFill>
            <a:srgbClr val="F28A14"/>
          </a:solidFill>
          <a:ln w="6350">
            <a:solidFill>
              <a:srgbClr val="F28A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88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242816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à prendre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écritures comptables et mode hors ligne du chauffeur.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221224"/>
            <a:ext cx="621792" cy="621792"/>
          </a:xfrm>
          <a:prstGeom prst="ellipse">
            <a:avLst/>
          </a:prstGeom>
          <a:solidFill>
            <a:srgbClr val="F28A14"/>
          </a:solidFill>
          <a:ln w="6350">
            <a:solidFill>
              <a:srgbClr val="F28A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221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1755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Essais terrain, puis mise en service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renforcée, déploiement, sauvegardes.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DEN Source Group — Présentation</dc:title>
  <dc:subject>PptxGenJS Presentation</dc:subject>
  <dc:creator>DEN Source Group</dc:creator>
  <cp:lastModifiedBy>DEN Source Group</cp:lastModifiedBy>
  <cp:revision>1</cp:revision>
  <dcterms:created xsi:type="dcterms:W3CDTF">2026-09-21T16:02:49Z</dcterms:created>
  <dcterms:modified xsi:type="dcterms:W3CDTF">2026-09-21T16:02:49Z</dcterms:modified>
</cp:coreProperties>
</file>